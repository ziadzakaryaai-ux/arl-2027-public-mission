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4" d="100"/>
          <a:sy n="74" d="100"/>
        </p:scale>
        <p:origin x="1013"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8712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everyone. In this presentation, I will walk you through the end-to-end autonomous pipeline for a Formula Student Driverless vehicle. We will cover Perception—combining LiDAR and Camera data, State Estimation via Extended Kalman Filtering, Mapping using FastSLAM 2.0, Path Planning with Delaunay Triangulation, and Model Predictive Control for high-speed tracking. Finally, I will detail our simulation and testing workflows, as well as an explicit disclosure on how AI tools were leveraged to assist in preparing this presentation.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Moving to Perception. The LiDAR pipeline filters ground points and compensates for motion distortion—or deskewing. Because a LiDAR scan takes ~100ms, vehicle motion distorts the frame unless points are transformed using IMU odometry. Cones are clustered and colored based on retroreflective intensity peaks. On the Camera side, CNNs detect cone keypoints. While monocular depth relies on size assumptions, stereo camera depth uses disparity matching across horizontal epipolar lines. Combining both sensors provides vital redundancy: LiDAR handles accurate 3D spatial positioning, while cameras provide reliable color semantics.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Next is State Estimation. High-performance controllers need stable velocity estimates at over 100 Hz. We run an Extended Kalman Filter fusing a dynamic vehicle model with sensor updates. Why can't we trust individual sensors? Wheel encoders slip during aggressive acceleration and braking, and raw IMU integration suffers from unconstrained drift. By fusing encoders, IMUs, and optical speed sensors—and filtering outliers via Mahalanobis distance gating—our EKF maintains an accurate estimate of vehicle motion even at tire traction limits.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Mapping, we face the unknown track problem solved by FastSLAM 2.0. The main difficulty in SLAM is data association: matching observed cones to previously mapped landmarks. FastSLAM 2.0 uses a Rao-Blackwellized Particle Filter where each particle maintains the vehicle trajectory and independent EKFs for landmark locations. Unlike FastSLAM 1.0, version 2.0 incorporates the latest observation directly into the particle proposal step, keeping particle counts low and real-time capable. Once Lap Closure is detected at the start line, map building freezes, transitioning the system to global trajectory pursuit.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Planning and Control, candidate paths are generated via Delaunay Triangulation across left and right cones. However, driving the track centerline is sub-optimal for racing. We optimize a global racing line to maximize the cornering radius R at the apex. Since lateral acceleration is ay = v squared over R, a larger radius allows higher cornering speeds. For Control, we use Model Predictive Control based on a Dynamic Bicycle Model incorporating tire slip angles. MPC solves an online optimization problem every 20 milliseconds, calculating optimal steering and motor torques while strictly adhering to actuator limits.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Finally, Testing and AI Methodology. Before running the real vehicle, all algorithms undergo Software and Hardware-in-the-Loop simulation. Our Automated Testing System replays rosbags via CI/CD to catch performance regressions. Regarding AI Usage: AI was leveraged as a collaborative thought partner throughout this process—specifically for structuring the technical slide narrative to fit the 5-7 minute window, generating the underlying python-pptx presentation code, and verifying mathematical derivations for coordinate frames and state estimation formulas. Thank you, and I am now ready for your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3200400"/>
          </a:xfrm>
          <a:prstGeom prst="rect">
            <a:avLst/>
          </a:prstGeom>
          <a:noFill/>
        </p:spPr>
        <p:txBody>
          <a:bodyPr wrap="square">
            <a:spAutoFit/>
          </a:bodyPr>
          <a:lstStyle/>
          <a:p>
            <a:pPr>
              <a:spcAft>
                <a:spcPts val="1000"/>
              </a:spcAft>
              <a:defRPr sz="1400" b="1">
                <a:solidFill>
                  <a:srgbClr val="F59E0B"/>
                </a:solidFill>
              </a:defRPr>
            </a:pPr>
            <a:r>
              <a:t>FORMULA STUDENT DRIVERLESS</a:t>
            </a:r>
          </a:p>
          <a:p>
            <a:pPr>
              <a:spcAft>
                <a:spcPts val="1200"/>
              </a:spcAft>
              <a:defRPr sz="3600" b="1">
                <a:solidFill>
                  <a:srgbClr val="F8FAFC"/>
                </a:solidFill>
              </a:defRPr>
            </a:pPr>
            <a:r>
              <a:t>Full-Stack Autonomous Systems Architecture</a:t>
            </a:r>
          </a:p>
          <a:p>
            <a:pPr>
              <a:defRPr sz="1800">
                <a:solidFill>
                  <a:srgbClr val="38BDF8"/>
                </a:solidFill>
              </a:defRPr>
            </a:pPr>
            <a:r>
              <a:t>Perception, State Estimation, FastSLAM 2.0, MPC Control &amp; Testing Infrastructure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38BDF8"/>
                </a:solidFill>
              </a:defRPr>
            </a:pPr>
            <a:r>
              <a:t>FORMULA STUDENT DRIVERLESS</a:t>
            </a:r>
          </a:p>
          <a:p>
            <a:pPr>
              <a:defRPr sz="2600" b="1">
                <a:solidFill>
                  <a:srgbClr val="F8FAFC"/>
                </a:solidFill>
              </a:defRPr>
            </a:pPr>
            <a:r>
              <a:t>Perception: LiDAR &amp; Camera Fusion</a:t>
            </a:r>
          </a:p>
        </p:txBody>
      </p:sp>
      <p:sp>
        <p:nvSpPr>
          <p:cNvPr id="4" name="Rounded Rectangle 3"/>
          <p:cNvSpPr/>
          <p:nvPr/>
        </p:nvSpPr>
        <p:spPr>
          <a:xfrm>
            <a:off x="731520" y="1463040"/>
            <a:ext cx="3328416" cy="48463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1200"/>
              </a:spcAft>
              <a:defRPr sz="1800" b="1">
                <a:solidFill>
                  <a:srgbClr val="38BDF8"/>
                </a:solidFill>
              </a:defRPr>
            </a:pPr>
            <a:r>
              <a:rPr dirty="0"/>
              <a:t>LiDAR Pipeline</a:t>
            </a:r>
          </a:p>
          <a:p>
            <a:pPr>
              <a:spcAft>
                <a:spcPts val="800"/>
              </a:spcAft>
              <a:defRPr sz="1300">
                <a:solidFill>
                  <a:srgbClr val="F8FAFC"/>
                </a:solidFill>
              </a:defRPr>
            </a:pPr>
            <a:r>
              <a:rPr dirty="0"/>
              <a:t>• Ground Filtering: RANSAC/grid segmentation isolates drivable surface.</a:t>
            </a:r>
          </a:p>
          <a:p>
            <a:pPr>
              <a:spcAft>
                <a:spcPts val="800"/>
              </a:spcAft>
              <a:defRPr sz="1300">
                <a:solidFill>
                  <a:srgbClr val="F8FAFC"/>
                </a:solidFill>
              </a:defRPr>
            </a:pPr>
            <a:r>
              <a:rPr dirty="0"/>
              <a:t>• Motion </a:t>
            </a:r>
            <a:r>
              <a:t>Deskewing</a:t>
            </a:r>
            <a:r>
              <a:rPr dirty="0"/>
              <a:t>: High-speed frame motion distorts point clouds. High-</a:t>
            </a:r>
            <a:r>
              <a:rPr dirty="0" err="1"/>
              <a:t>freq</a:t>
            </a:r>
            <a:r>
              <a:rPr dirty="0"/>
              <a:t> IMU/odometry transforms points back to frame start time.</a:t>
            </a:r>
          </a:p>
          <a:p>
            <a:pPr>
              <a:spcAft>
                <a:spcPts val="800"/>
              </a:spcAft>
              <a:defRPr sz="1300">
                <a:solidFill>
                  <a:srgbClr val="F8FAFC"/>
                </a:solidFill>
              </a:defRPr>
            </a:pPr>
            <a:r>
              <a:rPr dirty="0"/>
              <a:t>• Clustering &amp; Reconstruction: DBSCAN/Euclidean extraction groups sparse cone returns; shape-fitting extracts 3D centroids.</a:t>
            </a:r>
          </a:p>
          <a:p>
            <a:pPr>
              <a:spcAft>
                <a:spcPts val="800"/>
              </a:spcAft>
              <a:defRPr sz="1300">
                <a:solidFill>
                  <a:srgbClr val="F8FAFC"/>
                </a:solidFill>
              </a:defRPr>
            </a:pPr>
            <a:r>
              <a:rPr dirty="0"/>
              <a:t>• Color via Intensity: Reflective tape on cones produces high intensity return peaks for color classification.</a:t>
            </a:r>
          </a:p>
        </p:txBody>
      </p:sp>
      <p:sp>
        <p:nvSpPr>
          <p:cNvPr id="5" name="Rounded Rectangle 4"/>
          <p:cNvSpPr/>
          <p:nvPr/>
        </p:nvSpPr>
        <p:spPr>
          <a:xfrm>
            <a:off x="4425696" y="1463040"/>
            <a:ext cx="3328416" cy="48463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1200"/>
              </a:spcAft>
              <a:defRPr sz="1800" b="1">
                <a:solidFill>
                  <a:srgbClr val="F59E0B"/>
                </a:solidFill>
              </a:defRPr>
            </a:pPr>
            <a:r>
              <a:t>Camera Pipeline</a:t>
            </a:r>
          </a:p>
          <a:p>
            <a:pPr>
              <a:spcAft>
                <a:spcPts val="800"/>
              </a:spcAft>
              <a:defRPr sz="1300">
                <a:solidFill>
                  <a:srgbClr val="F8FAFC"/>
                </a:solidFill>
              </a:defRPr>
            </a:pPr>
            <a:r>
              <a:t>• CNN Keypoint Detection: Predicts 2D bounding boxes &amp; cone keypoints (top, base corners).</a:t>
            </a:r>
          </a:p>
          <a:p>
            <a:pPr>
              <a:spcAft>
                <a:spcPts val="800"/>
              </a:spcAft>
              <a:defRPr sz="1300">
                <a:solidFill>
                  <a:srgbClr val="F8FAFC"/>
                </a:solidFill>
              </a:defRPr>
            </a:pPr>
            <a:r>
              <a:t>• Mono vs. Stereo: Monocular assumes ground homography/cone size (vulnerable to pitch). Stereo directly computes depth Z = (f * B) / d.</a:t>
            </a:r>
          </a:p>
          <a:p>
            <a:pPr>
              <a:spcAft>
                <a:spcPts val="800"/>
              </a:spcAft>
              <a:defRPr sz="1300">
                <a:solidFill>
                  <a:srgbClr val="F8FAFC"/>
                </a:solidFill>
              </a:defRPr>
            </a:pPr>
            <a:r>
              <a:t>• Epipolar Matching: Restricts stereo keypoint searches along 1D horizontal scanlines.</a:t>
            </a:r>
          </a:p>
          <a:p>
            <a:pPr>
              <a:spcAft>
                <a:spcPts val="800"/>
              </a:spcAft>
              <a:defRPr sz="1300">
                <a:solidFill>
                  <a:srgbClr val="F8FAFC"/>
                </a:solidFill>
              </a:defRPr>
            </a:pPr>
            <a:r>
              <a:t>• PnP Projection: Converts 2D pixel keypoints to precise 3D camera-frame coordinates.</a:t>
            </a:r>
          </a:p>
        </p:txBody>
      </p:sp>
      <p:sp>
        <p:nvSpPr>
          <p:cNvPr id="6" name="Rounded Rectangle 5"/>
          <p:cNvSpPr/>
          <p:nvPr/>
        </p:nvSpPr>
        <p:spPr>
          <a:xfrm>
            <a:off x="8119872" y="1463040"/>
            <a:ext cx="3328416" cy="48463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1200"/>
              </a:spcAft>
              <a:defRPr sz="1800" b="1">
                <a:solidFill>
                  <a:srgbClr val="38BDF8"/>
                </a:solidFill>
              </a:defRPr>
            </a:pPr>
            <a:r>
              <a:t>Fusion &amp; Redundancy</a:t>
            </a:r>
          </a:p>
          <a:p>
            <a:pPr>
              <a:spcAft>
                <a:spcPts val="800"/>
              </a:spcAft>
              <a:defRPr sz="1300">
                <a:solidFill>
                  <a:srgbClr val="F8FAFC"/>
                </a:solidFill>
              </a:defRPr>
            </a:pPr>
            <a:r>
              <a:t>• Sensor Redundancy: LiDAR excels at 3D geometry &amp; long-range depth but lacks dense color. Cameras provide rich semantic color but suffer in poor lighting.</a:t>
            </a:r>
          </a:p>
          <a:p>
            <a:pPr>
              <a:spcAft>
                <a:spcPts val="800"/>
              </a:spcAft>
              <a:defRPr sz="1300">
                <a:solidFill>
                  <a:srgbClr val="F8FAFC"/>
                </a:solidFill>
              </a:defRPr>
            </a:pPr>
            <a:r>
              <a:t>• Cross-Modal Fusion: Merges LiDAR spatial accuracy with Camera color classification.</a:t>
            </a:r>
          </a:p>
          <a:p>
            <a:pPr>
              <a:spcAft>
                <a:spcPts val="800"/>
              </a:spcAft>
              <a:defRPr sz="1300">
                <a:solidFill>
                  <a:srgbClr val="F8FAFC"/>
                </a:solidFill>
              </a:defRPr>
            </a:pPr>
            <a:r>
              <a:t>• Fail-safe Perception: Ensures zero single-point-of-failure under bright glare or rain.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38BDF8"/>
                </a:solidFill>
              </a:defRPr>
            </a:pPr>
            <a:r>
              <a:t>FORMULA STUDENT DRIVERLESS</a:t>
            </a:r>
          </a:p>
          <a:p>
            <a:pPr>
              <a:defRPr sz="2600" b="1">
                <a:solidFill>
                  <a:srgbClr val="F8FAFC"/>
                </a:solidFill>
              </a:defRPr>
            </a:pPr>
            <a:r>
              <a:t>State Estimation &amp; Velocity Tracking</a:t>
            </a:r>
          </a:p>
        </p:txBody>
      </p:sp>
      <p:sp>
        <p:nvSpPr>
          <p:cNvPr id="4" name="Rounded Rectangle 3"/>
          <p:cNvSpPr/>
          <p:nvPr/>
        </p:nvSpPr>
        <p:spPr>
          <a:xfrm>
            <a:off x="731520" y="1463040"/>
            <a:ext cx="5175504" cy="48463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1200"/>
              </a:spcAft>
              <a:defRPr sz="1800" b="1">
                <a:solidFill>
                  <a:srgbClr val="38BDF8"/>
                </a:solidFill>
              </a:defRPr>
            </a:pPr>
            <a:r>
              <a:t>EKF &amp; Velocity Estimation</a:t>
            </a:r>
          </a:p>
          <a:p>
            <a:pPr>
              <a:spcAft>
                <a:spcPts val="800"/>
              </a:spcAft>
              <a:defRPr sz="1300">
                <a:solidFill>
                  <a:srgbClr val="F8FAFC"/>
                </a:solidFill>
              </a:defRPr>
            </a:pPr>
            <a:r>
              <a:t>• High-Frequency Feedback: Controllers require real-time estimates (&gt;100Hz) of longitudinal velocity (vx), lateral velocity (vy), and yaw rate (wz).</a:t>
            </a:r>
          </a:p>
          <a:p>
            <a:pPr>
              <a:spcAft>
                <a:spcPts val="800"/>
              </a:spcAft>
              <a:defRPr sz="1300">
                <a:solidFill>
                  <a:srgbClr val="F8FAFC"/>
                </a:solidFill>
              </a:defRPr>
            </a:pPr>
            <a:r>
              <a:t>• Extended Kalman Filter (EKF): Fuses kinematic/dynamic vehicle models with multi-sensor updates.</a:t>
            </a:r>
          </a:p>
          <a:p>
            <a:pPr>
              <a:spcAft>
                <a:spcPts val="800"/>
              </a:spcAft>
              <a:defRPr sz="1300">
                <a:solidFill>
                  <a:srgbClr val="F8FAFC"/>
                </a:solidFill>
              </a:defRPr>
            </a:pPr>
            <a:r>
              <a:t>• Prediction Step: Propagates vehicle state forward using IMU angular rates &amp; linear accelerations.</a:t>
            </a:r>
          </a:p>
          <a:p>
            <a:pPr>
              <a:spcAft>
                <a:spcPts val="800"/>
              </a:spcAft>
              <a:defRPr sz="1300">
                <a:solidFill>
                  <a:srgbClr val="F8FAFC"/>
                </a:solidFill>
              </a:defRPr>
            </a:pPr>
            <a:r>
              <a:t>• Update Step: Corrects state predictions using wheel encoders, optical speed sensors, and SLAM position estimates.</a:t>
            </a:r>
          </a:p>
        </p:txBody>
      </p:sp>
      <p:sp>
        <p:nvSpPr>
          <p:cNvPr id="5" name="Rounded Rectangle 4"/>
          <p:cNvSpPr/>
          <p:nvPr/>
        </p:nvSpPr>
        <p:spPr>
          <a:xfrm>
            <a:off x="6272784" y="1463040"/>
            <a:ext cx="5175504" cy="48463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1200"/>
              </a:spcAft>
              <a:defRPr sz="1800" b="1">
                <a:solidFill>
                  <a:srgbClr val="F59E0B"/>
                </a:solidFill>
              </a:defRPr>
            </a:pPr>
            <a:r>
              <a:t>Sensor Redundancy &amp; Slip</a:t>
            </a:r>
          </a:p>
          <a:p>
            <a:pPr>
              <a:spcAft>
                <a:spcPts val="800"/>
              </a:spcAft>
              <a:defRPr sz="1300">
                <a:solidFill>
                  <a:srgbClr val="F8FAFC"/>
                </a:solidFill>
              </a:defRPr>
            </a:pPr>
            <a:r>
              <a:t>• Why Single Sensors Fail: Individual sensors cannot be trusted in high-speed racing conditions.</a:t>
            </a:r>
          </a:p>
          <a:p>
            <a:pPr>
              <a:spcAft>
                <a:spcPts val="800"/>
              </a:spcAft>
              <a:defRPr sz="1300">
                <a:solidFill>
                  <a:srgbClr val="F8FAFC"/>
                </a:solidFill>
              </a:defRPr>
            </a:pPr>
            <a:r>
              <a:t>• Wheel Encoders: Suffer from severe wheel slip under acceleration/lockup under braking.</a:t>
            </a:r>
          </a:p>
          <a:p>
            <a:pPr>
              <a:spcAft>
                <a:spcPts val="800"/>
              </a:spcAft>
              <a:defRPr sz="1300">
                <a:solidFill>
                  <a:srgbClr val="F8FAFC"/>
                </a:solidFill>
              </a:defRPr>
            </a:pPr>
            <a:r>
              <a:t>• IMU Drift: Uncorrected integration of accelerometer bias leads to massive position drift.</a:t>
            </a:r>
          </a:p>
          <a:p>
            <a:pPr>
              <a:spcAft>
                <a:spcPts val="800"/>
              </a:spcAft>
              <a:defRPr sz="1300">
                <a:solidFill>
                  <a:srgbClr val="F8FAFC"/>
                </a:solidFill>
              </a:defRPr>
            </a:pPr>
            <a:r>
              <a:t>• Outliers vs. Drift: Mahalanobis distance gating filters measurement outliers, while non-integrating global updates eliminate drift.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38BDF8"/>
                </a:solidFill>
              </a:defRPr>
            </a:pPr>
            <a:r>
              <a:t>FORMULA STUDENT DRIVERLESS</a:t>
            </a:r>
          </a:p>
          <a:p>
            <a:pPr>
              <a:defRPr sz="2600" b="1">
                <a:solidFill>
                  <a:srgbClr val="F8FAFC"/>
                </a:solidFill>
              </a:defRPr>
            </a:pPr>
            <a:r>
              <a:t>SLAM &amp; Mapping Infrastructure</a:t>
            </a:r>
          </a:p>
        </p:txBody>
      </p:sp>
      <p:sp>
        <p:nvSpPr>
          <p:cNvPr id="4" name="Rounded Rectangle 3"/>
          <p:cNvSpPr/>
          <p:nvPr/>
        </p:nvSpPr>
        <p:spPr>
          <a:xfrm>
            <a:off x="731520" y="1463040"/>
            <a:ext cx="10728655" cy="48463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1200"/>
              </a:spcAft>
              <a:defRPr sz="1800" b="1">
                <a:solidFill>
                  <a:srgbClr val="38BDF8"/>
                </a:solidFill>
              </a:defRPr>
            </a:pPr>
            <a:r>
              <a:t>FastSLAM 2.0 Architecture</a:t>
            </a:r>
          </a:p>
          <a:p>
            <a:pPr>
              <a:spcAft>
                <a:spcPts val="800"/>
              </a:spcAft>
              <a:defRPr sz="1300">
                <a:solidFill>
                  <a:srgbClr val="F8FAFC"/>
                </a:solidFill>
              </a:defRPr>
            </a:pPr>
            <a:r>
              <a:t>• Unknown Track Problem: The vehicle enters an unknown track and must simultaneously build a landmark map (cone locations) and localize itself.</a:t>
            </a:r>
          </a:p>
          <a:p>
            <a:pPr>
              <a:spcAft>
                <a:spcPts val="800"/>
              </a:spcAft>
              <a:defRPr sz="1300">
                <a:solidFill>
                  <a:srgbClr val="F8FAFC"/>
                </a:solidFill>
              </a:defRPr>
            </a:pPr>
            <a:r>
              <a:t>• Data Association Challenge: Corresponds newly detected cones to mapped landmarks. Solved using Mahalanobis distance and JCBB (Joint Compatibility Branch &amp; Bound).</a:t>
            </a:r>
          </a:p>
          <a:p>
            <a:pPr>
              <a:spcAft>
                <a:spcPts val="800"/>
              </a:spcAft>
              <a:defRPr sz="1300">
                <a:solidFill>
                  <a:srgbClr val="F8FAFC"/>
                </a:solidFill>
              </a:defRPr>
            </a:pPr>
            <a:r>
              <a:t>• FastSLAM 2.0 Engine: Uses a Rao-Blackwellized Particle Filter. Each particle holds a vehicle trajectory hypothesis and independent landmark EKFs.</a:t>
            </a:r>
          </a:p>
          <a:p>
            <a:pPr>
              <a:spcAft>
                <a:spcPts val="800"/>
              </a:spcAft>
              <a:defRPr sz="1300">
                <a:solidFill>
                  <a:srgbClr val="F8FAFC"/>
                </a:solidFill>
              </a:defRPr>
            </a:pPr>
            <a:r>
              <a:t>• Proposal Distribution: FastSLAM 2.0 incorporates the latest sensor observation into particle proposal, drastically reducing required particle count.</a:t>
            </a:r>
          </a:p>
          <a:p>
            <a:pPr>
              <a:spcAft>
                <a:spcPts val="800"/>
              </a:spcAft>
              <a:defRPr sz="1300">
                <a:solidFill>
                  <a:srgbClr val="F8FAFC"/>
                </a:solidFill>
              </a:defRPr>
            </a:pPr>
            <a:r>
              <a:t>• Lap Closure Transition: Detects start line re-entry, freezes map building, and transitions to global path optimization for maximum speed.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38BDF8"/>
                </a:solidFill>
              </a:defRPr>
            </a:pPr>
            <a:r>
              <a:t>FORMULA STUDENT DRIVERLESS</a:t>
            </a:r>
          </a:p>
          <a:p>
            <a:pPr>
              <a:defRPr sz="2600" b="1">
                <a:solidFill>
                  <a:srgbClr val="F8FAFC"/>
                </a:solidFill>
              </a:defRPr>
            </a:pPr>
            <a:r>
              <a:t>Path Planning &amp; Vehicle Control</a:t>
            </a:r>
          </a:p>
        </p:txBody>
      </p:sp>
      <p:sp>
        <p:nvSpPr>
          <p:cNvPr id="4" name="Rounded Rectangle 3"/>
          <p:cNvSpPr/>
          <p:nvPr/>
        </p:nvSpPr>
        <p:spPr>
          <a:xfrm>
            <a:off x="731520" y="1463040"/>
            <a:ext cx="5175504" cy="48463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1200"/>
              </a:spcAft>
              <a:defRPr sz="1800" b="1">
                <a:solidFill>
                  <a:srgbClr val="F59E0B"/>
                </a:solidFill>
              </a:defRPr>
            </a:pPr>
            <a:r>
              <a:t>Path Planning &amp; Racing Line</a:t>
            </a:r>
          </a:p>
          <a:p>
            <a:pPr>
              <a:spcAft>
                <a:spcPts val="800"/>
              </a:spcAft>
              <a:defRPr sz="1300">
                <a:solidFill>
                  <a:srgbClr val="F8FAFC"/>
                </a:solidFill>
              </a:defRPr>
            </a:pPr>
            <a:r>
              <a:t>• Delaunay Triangulation: Connects yellow (left) and blue (right) cones into a geometric mesh; removing same-color edges extracts the track centerline.</a:t>
            </a:r>
          </a:p>
          <a:p>
            <a:pPr>
              <a:spcAft>
                <a:spcPts val="800"/>
              </a:spcAft>
              <a:defRPr sz="1300">
                <a:solidFill>
                  <a:srgbClr val="F8FAFC"/>
                </a:solidFill>
              </a:defRPr>
            </a:pPr>
            <a:r>
              <a:t>• Racing Line vs. Centerline: Centerline driving restricts speed. Racing lines optimize apex trajectory to maximize cornering radius (R).</a:t>
            </a:r>
          </a:p>
          <a:p>
            <a:pPr>
              <a:spcAft>
                <a:spcPts val="800"/>
              </a:spcAft>
              <a:defRPr sz="1300">
                <a:solidFill>
                  <a:srgbClr val="F8FAFC"/>
                </a:solidFill>
              </a:defRPr>
            </a:pPr>
            <a:r>
              <a:t>• Curvature Acceleration: Minimizes lateral acceleration ay = (v^2) / R to allow higher cornering velocities.</a:t>
            </a:r>
          </a:p>
          <a:p>
            <a:pPr>
              <a:spcAft>
                <a:spcPts val="800"/>
              </a:spcAft>
              <a:defRPr sz="1300">
                <a:solidFill>
                  <a:srgbClr val="F8FAFC"/>
                </a:solidFill>
              </a:defRPr>
            </a:pPr>
            <a:r>
              <a:t>• Cost Function: Scores candidate paths based on curvature smoothness, cone boundary clearance, and speed profile feasibility.</a:t>
            </a:r>
          </a:p>
        </p:txBody>
      </p:sp>
      <p:sp>
        <p:nvSpPr>
          <p:cNvPr id="5" name="Rounded Rectangle 4"/>
          <p:cNvSpPr/>
          <p:nvPr/>
        </p:nvSpPr>
        <p:spPr>
          <a:xfrm>
            <a:off x="6272784" y="1463040"/>
            <a:ext cx="5175504" cy="48463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1200"/>
              </a:spcAft>
              <a:defRPr sz="1800" b="1">
                <a:solidFill>
                  <a:srgbClr val="38BDF8"/>
                </a:solidFill>
              </a:defRPr>
            </a:pPr>
            <a:r>
              <a:t>MPC &amp; Bicycle Model Control</a:t>
            </a:r>
          </a:p>
          <a:p>
            <a:pPr>
              <a:spcAft>
                <a:spcPts val="800"/>
              </a:spcAft>
              <a:defRPr sz="1300">
                <a:solidFill>
                  <a:srgbClr val="F8FAFC"/>
                </a:solidFill>
              </a:defRPr>
            </a:pPr>
            <a:r>
              <a:t>• Model Predictive Control (MPC): Solves online constrained optimization over a prediction horizon N.</a:t>
            </a:r>
          </a:p>
          <a:p>
            <a:pPr>
              <a:spcAft>
                <a:spcPts val="800"/>
              </a:spcAft>
              <a:defRPr sz="1300">
                <a:solidFill>
                  <a:srgbClr val="F8FAFC"/>
                </a:solidFill>
              </a:defRPr>
            </a:pPr>
            <a:r>
              <a:t>• Actuator Constraints: Minimizes tracking error while respecting steering rate limits and acceleration bounds.</a:t>
            </a:r>
          </a:p>
          <a:p>
            <a:pPr>
              <a:spcAft>
                <a:spcPts val="800"/>
              </a:spcAft>
              <a:defRPr sz="1300">
                <a:solidFill>
                  <a:srgbClr val="F8FAFC"/>
                </a:solidFill>
              </a:defRPr>
            </a:pPr>
            <a:r>
              <a:t>• Bicycle Model Dynamics: Models vehicle response using front/rear tire slip angles (alpha_f, alpha_r) and cornering stiffness (C_alpha).</a:t>
            </a:r>
          </a:p>
          <a:p>
            <a:pPr>
              <a:spcAft>
                <a:spcPts val="800"/>
              </a:spcAft>
              <a:defRPr sz="1300">
                <a:solidFill>
                  <a:srgbClr val="F8FAFC"/>
                </a:solidFill>
              </a:defRPr>
            </a:pPr>
            <a:r>
              <a:t>• Real-Time Execution: Computes optimal steering &amp; torque commands within tight 20ms control loops.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38BDF8"/>
                </a:solidFill>
              </a:defRPr>
            </a:pPr>
            <a:r>
              <a:t>FORMULA STUDENT DRIVERLESS</a:t>
            </a:r>
          </a:p>
          <a:p>
            <a:pPr>
              <a:defRPr sz="2600" b="1">
                <a:solidFill>
                  <a:srgbClr val="F8FAFC"/>
                </a:solidFill>
              </a:defRPr>
            </a:pPr>
            <a:r>
              <a:t>Testing Infrastructure &amp; AI Disclosure</a:t>
            </a:r>
          </a:p>
        </p:txBody>
      </p:sp>
      <p:sp>
        <p:nvSpPr>
          <p:cNvPr id="4" name="Rounded Rectangle 3"/>
          <p:cNvSpPr/>
          <p:nvPr/>
        </p:nvSpPr>
        <p:spPr>
          <a:xfrm>
            <a:off x="731520" y="1463040"/>
            <a:ext cx="5175504" cy="48463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1200"/>
              </a:spcAft>
              <a:defRPr sz="1800" b="1">
                <a:solidFill>
                  <a:srgbClr val="38BDF8"/>
                </a:solidFill>
              </a:defRPr>
            </a:pPr>
            <a:r>
              <a:t>Simulation &amp; Testing (ATS)</a:t>
            </a:r>
          </a:p>
          <a:p>
            <a:pPr>
              <a:spcAft>
                <a:spcPts val="800"/>
              </a:spcAft>
              <a:defRPr sz="1300">
                <a:solidFill>
                  <a:srgbClr val="F8FAFC"/>
                </a:solidFill>
              </a:defRPr>
            </a:pPr>
            <a:r>
              <a:t>• Simulation Utility: SIL and HIL simulation pipelines validate perception, SLAM, and control algorithms without risking physical car crashes.</a:t>
            </a:r>
          </a:p>
          <a:p>
            <a:pPr>
              <a:spcAft>
                <a:spcPts val="800"/>
              </a:spcAft>
              <a:defRPr sz="1300">
                <a:solidFill>
                  <a:srgbClr val="F8FAFC"/>
                </a:solidFill>
              </a:defRPr>
            </a:pPr>
            <a:r>
              <a:t>• Automated Testing System (ATS): CI/CD regression framework that replays sensor rosbags and simulated track edge-cases on every pull request.</a:t>
            </a:r>
          </a:p>
          <a:p>
            <a:pPr>
              <a:spcAft>
                <a:spcPts val="800"/>
              </a:spcAft>
              <a:defRPr sz="1300">
                <a:solidFill>
                  <a:srgbClr val="F8FAFC"/>
                </a:solidFill>
              </a:defRPr>
            </a:pPr>
            <a:r>
              <a:t>• Telemetry &amp; Analytics: Comprehensive logging of CAN bus, sensor pipelines, and controller outputs for offline lag &amp; stability analysis.</a:t>
            </a:r>
          </a:p>
        </p:txBody>
      </p:sp>
      <p:sp>
        <p:nvSpPr>
          <p:cNvPr id="5" name="Rounded Rectangle 4"/>
          <p:cNvSpPr/>
          <p:nvPr/>
        </p:nvSpPr>
        <p:spPr>
          <a:xfrm>
            <a:off x="6272784" y="1463040"/>
            <a:ext cx="5175504" cy="48463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1200"/>
              </a:spcAft>
              <a:defRPr sz="1800" b="1">
                <a:solidFill>
                  <a:srgbClr val="F59E0B"/>
                </a:solidFill>
              </a:defRPr>
            </a:pPr>
            <a:r>
              <a:t>AI Usage Disclosure</a:t>
            </a:r>
          </a:p>
          <a:p>
            <a:pPr>
              <a:spcAft>
                <a:spcPts val="800"/>
              </a:spcAft>
              <a:defRPr sz="1300">
                <a:solidFill>
                  <a:srgbClr val="F8FAFC"/>
                </a:solidFill>
              </a:defRPr>
            </a:pPr>
            <a:r>
              <a:t>• AI Role &amp; Scope: AI tools were used as a thought partner, code generator, and verification assistant.</a:t>
            </a:r>
          </a:p>
          <a:p>
            <a:pPr>
              <a:spcAft>
                <a:spcPts val="800"/>
              </a:spcAft>
              <a:defRPr sz="1300">
                <a:solidFill>
                  <a:srgbClr val="F8FAFC"/>
                </a:solidFill>
              </a:defRPr>
            </a:pPr>
            <a:r>
              <a:t>• Architectural Mapping: Assisted in structuring technical guidelines into clear 5-7 minute presentation narratives.</a:t>
            </a:r>
          </a:p>
          <a:p>
            <a:pPr>
              <a:spcAft>
                <a:spcPts val="800"/>
              </a:spcAft>
              <a:defRPr sz="1300">
                <a:solidFill>
                  <a:srgbClr val="F8FAFC"/>
                </a:solidFill>
              </a:defRPr>
            </a:pPr>
            <a:r>
              <a:t>• Code &amp; Slide Generation: Generated python-pptx scripts to build slide layouts and formatted markdown bullet points.</a:t>
            </a:r>
          </a:p>
          <a:p>
            <a:pPr>
              <a:spcAft>
                <a:spcPts val="800"/>
              </a:spcAft>
              <a:defRPr sz="1300">
                <a:solidFill>
                  <a:srgbClr val="F8FAFC"/>
                </a:solidFill>
              </a:defRPr>
            </a:pPr>
            <a:r>
              <a:t>• Mathematical Verification: Used to cross-check coordinate transformations, EKF formulations, and bicycle model kinematics.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1475</Words>
  <Application>Microsoft Office PowerPoint</Application>
  <PresentationFormat>Widescreen</PresentationFormat>
  <Paragraphs>68</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ziad ahmed</cp:lastModifiedBy>
  <cp:revision>1</cp:revision>
  <dcterms:created xsi:type="dcterms:W3CDTF">2013-01-27T09:14:16Z</dcterms:created>
  <dcterms:modified xsi:type="dcterms:W3CDTF">2026-08-21T17:54:31Z</dcterms:modified>
  <cp:category/>
</cp:coreProperties>
</file>